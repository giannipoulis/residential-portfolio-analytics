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6" d="100"/>
          <a:sy n="76" d="100"/>
        </p:scale>
        <p:origin x="88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755A-4E61-EDAA-03D2-7A0784069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A8D83-8789-4EB2-A30A-DDDEFC872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2595E-437C-1A5C-E1BD-A302FFF6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0047F-2D61-DD03-171F-C1785C1F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8E300-64C5-D39B-7481-A98B9C87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41F1-244B-28EF-1FCB-AA8C2934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91E61-5AC6-6212-CC33-CFEE25F4B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81FBB-F044-BAE3-5359-C8E9740F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C8AD-A85A-D7B9-DDD5-C8AA0EC4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DCBF6-951E-536E-F230-D710F412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3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8F03-4F31-1A4C-0D38-5FFF39F5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8C36A-7E1D-726A-26BA-F837F693C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77AD7-2FB6-1DCE-DAC7-19D1EF3A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A7B64-784D-FCDA-BAB3-BCC2AB60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A7B93-291E-4574-8BBB-826735C3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8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A85F-5E27-7051-AED3-55FCFFD7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5894A-6910-1611-F637-A34715A90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51E5E-50F1-9D95-3C48-F399C0DD2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B04CB-0964-FEF3-D507-5659DB23A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1B23E-7E10-DD26-FF70-08A7E4DE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1EECA-0198-6349-8412-02201D41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0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F1F4-E167-A107-51DF-3C0DD06DF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9C983-0894-3E74-8660-E6D98BB28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16648-8454-64C3-88F3-1F896D5DB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E0238-923D-AC79-3120-E43248615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C9CC5-F946-2E79-13CB-0A18DDE50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2EC5C-4387-3B90-3C3D-7314EBE2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A0CD0-AF2E-ACEB-52FD-14219350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BFF4A-889A-BECE-084C-61C14531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0E49-0042-1861-4409-7C86C1733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F2E1F-A794-59C5-4DFE-B05424B6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D29CA-B772-B436-0228-0CDE36DD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1D8FD-3ECC-F581-D3B3-AAD65C30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4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2E605F-459D-37A5-CA77-829FC9E3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9BC367-55C5-3E43-4960-FDF1B74C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83B8-143B-D9DB-C5D8-7026DF92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1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3869-D804-9494-2B02-8714132D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030F9-4783-707A-D2CE-E51CDCE4D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57486-5049-0E94-2303-4061C77AB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88F0F-E2A4-537A-3E70-A071AE89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3CEAD-CB16-41A2-46E3-76CD2FAB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36455-CB34-BEE0-9DDC-F3BD247F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463A-86B5-9F24-0DE7-0AA61E23B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0F004B-4AD6-3310-E665-3FDF20A20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C4EB3-D96B-D29D-2F09-0F3E8A7CF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29B3-3253-74E8-069B-DED650AD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7399E-1D32-BF5E-C194-73B8739E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DE3CF-4327-A9C2-D5B3-20AAC831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8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6922-372C-7F3C-8B9E-FD5A908B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B3AD8-76F3-AE5F-3C0D-AEA9CF914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EFCA8-5C01-3BE0-1045-5CAC581E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1D53-30A9-A4F9-F002-1F725738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4FA13-E129-095E-5DC4-BF17C8BE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3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EE08D-524F-94D1-D576-71634DB51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D287A-CD3F-AF0F-C8F5-11B4717F6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7CE0C-A3E7-AF0A-E7AA-8C50144C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22B79-8257-62A5-F94D-AF397505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F217-8531-1B5B-B0D2-F5DFB53A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F2D3C-81D8-F853-E0B0-FCEB483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B8EB4-A5B2-7131-9129-827859EF4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86913-BD08-1B2F-D388-26F8DD860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3D2F5-C2EC-4FDE-BB22-AD29A72721D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363C7-0ED2-4EBE-1F57-49904485D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83B5D-990C-51E9-F421-036B44DDC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6697B-39F5-40EE-92E5-0D8A66C2D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1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-place.org/about" TargetMode="External"/><Relationship Id="rId13" Type="http://schemas.openxmlformats.org/officeDocument/2006/relationships/image" Target="../media/image8.png"/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12" Type="http://schemas.openxmlformats.org/officeDocument/2006/relationships/hyperlink" Target="https://blogabdulhalim.blogspot.com/2019/10/tampilan-dan-bagian-worksheet-microsoft-excel.html" TargetMode="External"/><Relationship Id="rId17" Type="http://schemas.openxmlformats.org/officeDocument/2006/relationships/hyperlink" Target="https://svgsilh.com/image/841606.html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hyperlink" Target="https://www.schwingi.pro/covid-19-our-world-in-data-statistics-and-research/" TargetMode="External"/><Relationship Id="rId15" Type="http://schemas.openxmlformats.org/officeDocument/2006/relationships/image" Target="../media/image9.png"/><Relationship Id="rId10" Type="http://schemas.openxmlformats.org/officeDocument/2006/relationships/hyperlink" Target="https://satwa-jaydenmuzzin.github.io/" TargetMode="External"/><Relationship Id="rId4" Type="http://schemas.openxmlformats.org/officeDocument/2006/relationships/image" Target="../media/image3.jpg"/><Relationship Id="rId9" Type="http://schemas.openxmlformats.org/officeDocument/2006/relationships/image" Target="../media/image6.png"/><Relationship Id="rId14" Type="http://schemas.openxmlformats.org/officeDocument/2006/relationships/hyperlink" Target="https://luciamonterorodriguez.com/blog/ofimatica/power-b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803E5908-D046-788A-13F1-B9606D9FAD87}"/>
              </a:ext>
            </a:extLst>
          </p:cNvPr>
          <p:cNvSpPr/>
          <p:nvPr/>
        </p:nvSpPr>
        <p:spPr>
          <a:xfrm>
            <a:off x="205154" y="1050653"/>
            <a:ext cx="11781692" cy="5255288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A673790-3BCD-90B7-E51E-AB7D74514D21}"/>
              </a:ext>
            </a:extLst>
          </p:cNvPr>
          <p:cNvSpPr/>
          <p:nvPr/>
        </p:nvSpPr>
        <p:spPr>
          <a:xfrm>
            <a:off x="212091" y="1146763"/>
            <a:ext cx="1187997" cy="4896000"/>
          </a:xfrm>
          <a:custGeom>
            <a:avLst/>
            <a:gdLst>
              <a:gd name="csX0" fmla="*/ 0 w 1187997"/>
              <a:gd name="csY0" fmla="*/ 118800 h 4826681"/>
              <a:gd name="csX1" fmla="*/ 118800 w 1187997"/>
              <a:gd name="csY1" fmla="*/ 0 h 4826681"/>
              <a:gd name="csX2" fmla="*/ 1069197 w 1187997"/>
              <a:gd name="csY2" fmla="*/ 0 h 4826681"/>
              <a:gd name="csX3" fmla="*/ 1187997 w 1187997"/>
              <a:gd name="csY3" fmla="*/ 118800 h 4826681"/>
              <a:gd name="csX4" fmla="*/ 1187997 w 1187997"/>
              <a:gd name="csY4" fmla="*/ 4707881 h 4826681"/>
              <a:gd name="csX5" fmla="*/ 1069197 w 1187997"/>
              <a:gd name="csY5" fmla="*/ 4826681 h 4826681"/>
              <a:gd name="csX6" fmla="*/ 118800 w 1187997"/>
              <a:gd name="csY6" fmla="*/ 4826681 h 4826681"/>
              <a:gd name="csX7" fmla="*/ 0 w 1187997"/>
              <a:gd name="csY7" fmla="*/ 4707881 h 4826681"/>
              <a:gd name="csX8" fmla="*/ 0 w 1187997"/>
              <a:gd name="csY8" fmla="*/ 118800 h 4826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7997" h="4826681">
                <a:moveTo>
                  <a:pt x="0" y="118800"/>
                </a:moveTo>
                <a:cubicBezTo>
                  <a:pt x="0" y="53189"/>
                  <a:pt x="53189" y="0"/>
                  <a:pt x="118800" y="0"/>
                </a:cubicBezTo>
                <a:lnTo>
                  <a:pt x="1069197" y="0"/>
                </a:lnTo>
                <a:cubicBezTo>
                  <a:pt x="1134808" y="0"/>
                  <a:pt x="1187997" y="53189"/>
                  <a:pt x="1187997" y="118800"/>
                </a:cubicBezTo>
                <a:lnTo>
                  <a:pt x="1187997" y="4707881"/>
                </a:lnTo>
                <a:cubicBezTo>
                  <a:pt x="1187997" y="4773492"/>
                  <a:pt x="1134808" y="4826681"/>
                  <a:pt x="1069197" y="4826681"/>
                </a:cubicBezTo>
                <a:lnTo>
                  <a:pt x="118800" y="4826681"/>
                </a:lnTo>
                <a:cubicBezTo>
                  <a:pt x="53189" y="4826681"/>
                  <a:pt x="0" y="4773492"/>
                  <a:pt x="0" y="4707881"/>
                </a:cubicBezTo>
                <a:lnTo>
                  <a:pt x="0" y="118800"/>
                </a:lnTo>
                <a:close/>
              </a:path>
            </a:pathLst>
          </a:custGeom>
          <a:noFill/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135" tIns="88135" rIns="88135" bIns="88135" numCol="1" spcCol="1270" anchor="t" anchorCtr="0">
            <a:noAutofit/>
          </a:bodyPr>
          <a:lstStyle/>
          <a:p>
            <a:pPr marL="0" lvl="0" indent="0" algn="ctr" defTabSz="62230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1 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</a:rPr>
            </a:b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DATA SOURCES</a:t>
            </a:r>
            <a:r>
              <a:rPr lang="en-US" sz="1600" b="1" dirty="0">
                <a:latin typeface="+mj-lt"/>
              </a:rPr>
              <a:t>R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600" b="1" dirty="0">
              <a:solidFill>
                <a:schemeClr val="tx1"/>
              </a:solidFill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+mj-lt"/>
              </a:rPr>
              <a:t>Raw data collected from trusted global</a:t>
            </a:r>
          </a:p>
          <a:p>
            <a:r>
              <a:rPr lang="en-US" sz="1100" b="1" dirty="0">
                <a:solidFill>
                  <a:schemeClr val="tx1"/>
                </a:solidFill>
                <a:latin typeface="+mj-lt"/>
              </a:rPr>
              <a:t>open data providers.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b="1" kern="1200" dirty="0">
              <a:solidFill>
                <a:schemeClr val="tx1"/>
              </a:solidFill>
            </a:endParaRP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kern="1200" dirty="0">
              <a:solidFill>
                <a:schemeClr val="tx1"/>
              </a:solidFill>
            </a:endParaRP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kern="1200" dirty="0">
              <a:solidFill>
                <a:schemeClr val="tx1"/>
              </a:solidFill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21337E4-7287-ECFF-38DE-B4636FADA184}"/>
              </a:ext>
            </a:extLst>
          </p:cNvPr>
          <p:cNvSpPr/>
          <p:nvPr/>
        </p:nvSpPr>
        <p:spPr>
          <a:xfrm>
            <a:off x="1311208" y="3678297"/>
            <a:ext cx="360000" cy="360000"/>
          </a:xfrm>
          <a:custGeom>
            <a:avLst/>
            <a:gdLst>
              <a:gd name="csX0" fmla="*/ 0 w 236234"/>
              <a:gd name="csY0" fmla="*/ 67203 h 336013"/>
              <a:gd name="csX1" fmla="*/ 118117 w 236234"/>
              <a:gd name="csY1" fmla="*/ 67203 h 336013"/>
              <a:gd name="csX2" fmla="*/ 118117 w 236234"/>
              <a:gd name="csY2" fmla="*/ 0 h 336013"/>
              <a:gd name="csX3" fmla="*/ 236234 w 236234"/>
              <a:gd name="csY3" fmla="*/ 168007 h 336013"/>
              <a:gd name="csX4" fmla="*/ 118117 w 236234"/>
              <a:gd name="csY4" fmla="*/ 336013 h 336013"/>
              <a:gd name="csX5" fmla="*/ 118117 w 236234"/>
              <a:gd name="csY5" fmla="*/ 268810 h 336013"/>
              <a:gd name="csX6" fmla="*/ 0 w 236234"/>
              <a:gd name="csY6" fmla="*/ 268810 h 336013"/>
              <a:gd name="csX7" fmla="*/ 0 w 236234"/>
              <a:gd name="csY7" fmla="*/ 67203 h 336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6234" h="336013">
                <a:moveTo>
                  <a:pt x="0" y="67203"/>
                </a:moveTo>
                <a:lnTo>
                  <a:pt x="118117" y="67203"/>
                </a:lnTo>
                <a:lnTo>
                  <a:pt x="118117" y="0"/>
                </a:lnTo>
                <a:lnTo>
                  <a:pt x="236234" y="168007"/>
                </a:lnTo>
                <a:lnTo>
                  <a:pt x="118117" y="336013"/>
                </a:lnTo>
                <a:lnTo>
                  <a:pt x="118117" y="268810"/>
                </a:lnTo>
                <a:lnTo>
                  <a:pt x="0" y="268810"/>
                </a:lnTo>
                <a:lnTo>
                  <a:pt x="0" y="6720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7203" rIns="70870" bIns="67203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0DF24BA-DD65-BA89-B1E3-4AC6B71D8773}"/>
              </a:ext>
            </a:extLst>
          </p:cNvPr>
          <p:cNvSpPr/>
          <p:nvPr/>
        </p:nvSpPr>
        <p:spPr>
          <a:xfrm>
            <a:off x="1479937" y="1146763"/>
            <a:ext cx="2160000" cy="4896000"/>
          </a:xfrm>
          <a:custGeom>
            <a:avLst/>
            <a:gdLst>
              <a:gd name="csX0" fmla="*/ 0 w 1700553"/>
              <a:gd name="csY0" fmla="*/ 170055 h 4826681"/>
              <a:gd name="csX1" fmla="*/ 170055 w 1700553"/>
              <a:gd name="csY1" fmla="*/ 0 h 4826681"/>
              <a:gd name="csX2" fmla="*/ 1530498 w 1700553"/>
              <a:gd name="csY2" fmla="*/ 0 h 4826681"/>
              <a:gd name="csX3" fmla="*/ 1700553 w 1700553"/>
              <a:gd name="csY3" fmla="*/ 170055 h 4826681"/>
              <a:gd name="csX4" fmla="*/ 1700553 w 1700553"/>
              <a:gd name="csY4" fmla="*/ 4656626 h 4826681"/>
              <a:gd name="csX5" fmla="*/ 1530498 w 1700553"/>
              <a:gd name="csY5" fmla="*/ 4826681 h 4826681"/>
              <a:gd name="csX6" fmla="*/ 170055 w 1700553"/>
              <a:gd name="csY6" fmla="*/ 4826681 h 4826681"/>
              <a:gd name="csX7" fmla="*/ 0 w 1700553"/>
              <a:gd name="csY7" fmla="*/ 4656626 h 4826681"/>
              <a:gd name="csX8" fmla="*/ 0 w 1700553"/>
              <a:gd name="csY8" fmla="*/ 170055 h 4826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00553" h="4826681">
                <a:moveTo>
                  <a:pt x="0" y="170055"/>
                </a:moveTo>
                <a:cubicBezTo>
                  <a:pt x="0" y="76136"/>
                  <a:pt x="76136" y="0"/>
                  <a:pt x="170055" y="0"/>
                </a:cubicBezTo>
                <a:lnTo>
                  <a:pt x="1530498" y="0"/>
                </a:lnTo>
                <a:cubicBezTo>
                  <a:pt x="1624417" y="0"/>
                  <a:pt x="1700553" y="76136"/>
                  <a:pt x="1700553" y="170055"/>
                </a:cubicBezTo>
                <a:lnTo>
                  <a:pt x="1700553" y="4656626"/>
                </a:lnTo>
                <a:cubicBezTo>
                  <a:pt x="1700553" y="4750545"/>
                  <a:pt x="1624417" y="4826681"/>
                  <a:pt x="1530498" y="4826681"/>
                </a:cubicBezTo>
                <a:lnTo>
                  <a:pt x="170055" y="4826681"/>
                </a:lnTo>
                <a:cubicBezTo>
                  <a:pt x="76136" y="4826681"/>
                  <a:pt x="0" y="4750545"/>
                  <a:pt x="0" y="4656626"/>
                </a:cubicBezTo>
                <a:lnTo>
                  <a:pt x="0" y="170055"/>
                </a:lnTo>
                <a:close/>
              </a:path>
            </a:pathLst>
          </a:custGeom>
          <a:noFill/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3147" tIns="103147" rIns="103147" bIns="103147" numCol="1" spcCol="1270" anchor="t" anchorCtr="0">
            <a:noAutofit/>
          </a:bodyPr>
          <a:lstStyle/>
          <a:p>
            <a:pPr marL="0" lvl="0" indent="0" algn="ctr" defTabSz="62230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</a:rPr>
              <a:t>2</a:t>
            </a:r>
            <a:br>
              <a:rPr lang="en-US" sz="1600" b="1" kern="1200" dirty="0">
                <a:solidFill>
                  <a:schemeClr val="tx1"/>
                </a:solidFill>
              </a:rPr>
            </a:br>
            <a:r>
              <a:rPr lang="en-US" sz="1600" b="1" kern="1200" dirty="0">
                <a:solidFill>
                  <a:schemeClr val="tx1"/>
                </a:solidFill>
              </a:rPr>
              <a:t> DATA EXTRACTION &amp; TRANSFORMATION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1" kern="1200" dirty="0">
              <a:solidFill>
                <a:schemeClr val="tx1"/>
              </a:solidFill>
            </a:endParaRP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1" kern="1200" dirty="0">
              <a:solidFill>
                <a:schemeClr val="tx1"/>
              </a:solidFill>
            </a:endParaRP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kern="12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kern="12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l" defTabSz="6223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 dirty="0">
                <a:solidFill>
                  <a:schemeClr val="tx1"/>
                </a:solidFill>
                <a:latin typeface="+mj-lt"/>
              </a:rPr>
              <a:t>Data Cleaning
Data Standardization
Data Type Conversion
Merging</a:t>
            </a:r>
          </a:p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100" b="1" dirty="0">
              <a:solidFill>
                <a:schemeClr val="tx1"/>
              </a:solidFill>
              <a:latin typeface="+mj-lt"/>
            </a:endParaRPr>
          </a:p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100" b="1" dirty="0">
              <a:solidFill>
                <a:schemeClr val="tx1"/>
              </a:solidFill>
              <a:latin typeface="+mj-lt"/>
            </a:endParaRPr>
          </a:p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  <a:latin typeface="+mj-lt"/>
              </a:rPr>
              <a:t>Data imported and cleaned using Power Query with transformations applied.</a:t>
            </a:r>
            <a:endParaRPr lang="en-US" sz="11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D020E060-DF42-BA3C-6ADA-8E0EE6B0D221}"/>
              </a:ext>
            </a:extLst>
          </p:cNvPr>
          <p:cNvSpPr/>
          <p:nvPr/>
        </p:nvSpPr>
        <p:spPr>
          <a:xfrm>
            <a:off x="3450379" y="3678297"/>
            <a:ext cx="360000" cy="360000"/>
          </a:xfrm>
          <a:custGeom>
            <a:avLst/>
            <a:gdLst>
              <a:gd name="csX0" fmla="*/ 0 w 198417"/>
              <a:gd name="csY0" fmla="*/ 67203 h 336013"/>
              <a:gd name="csX1" fmla="*/ 99209 w 198417"/>
              <a:gd name="csY1" fmla="*/ 67203 h 336013"/>
              <a:gd name="csX2" fmla="*/ 99209 w 198417"/>
              <a:gd name="csY2" fmla="*/ 0 h 336013"/>
              <a:gd name="csX3" fmla="*/ 198417 w 198417"/>
              <a:gd name="csY3" fmla="*/ 168007 h 336013"/>
              <a:gd name="csX4" fmla="*/ 99209 w 198417"/>
              <a:gd name="csY4" fmla="*/ 336013 h 336013"/>
              <a:gd name="csX5" fmla="*/ 99209 w 198417"/>
              <a:gd name="csY5" fmla="*/ 268810 h 336013"/>
              <a:gd name="csX6" fmla="*/ 0 w 198417"/>
              <a:gd name="csY6" fmla="*/ 268810 h 336013"/>
              <a:gd name="csX7" fmla="*/ 0 w 198417"/>
              <a:gd name="csY7" fmla="*/ 67203 h 336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8417" h="336013">
                <a:moveTo>
                  <a:pt x="0" y="67203"/>
                </a:moveTo>
                <a:lnTo>
                  <a:pt x="99209" y="67203"/>
                </a:lnTo>
                <a:lnTo>
                  <a:pt x="99209" y="0"/>
                </a:lnTo>
                <a:lnTo>
                  <a:pt x="198417" y="168007"/>
                </a:lnTo>
                <a:lnTo>
                  <a:pt x="99209" y="336013"/>
                </a:lnTo>
                <a:lnTo>
                  <a:pt x="99209" y="268810"/>
                </a:lnTo>
                <a:lnTo>
                  <a:pt x="0" y="268810"/>
                </a:lnTo>
                <a:lnTo>
                  <a:pt x="0" y="6720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7203" rIns="59525" bIns="67203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FBA5AAD-C108-A45E-C05B-54AAFE76C92F}"/>
                  </a:ext>
                </a:extLst>
              </p:cNvPr>
              <p:cNvSpPr/>
              <p:nvPr/>
            </p:nvSpPr>
            <p:spPr>
              <a:xfrm>
                <a:off x="3719786" y="1146763"/>
                <a:ext cx="2052000" cy="4896000"/>
              </a:xfrm>
              <a:custGeom>
                <a:avLst/>
                <a:gdLst>
                  <a:gd name="csX0" fmla="*/ 0 w 1818646"/>
                  <a:gd name="csY0" fmla="*/ 181865 h 4826681"/>
                  <a:gd name="csX1" fmla="*/ 181865 w 1818646"/>
                  <a:gd name="csY1" fmla="*/ 0 h 4826681"/>
                  <a:gd name="csX2" fmla="*/ 1636781 w 1818646"/>
                  <a:gd name="csY2" fmla="*/ 0 h 4826681"/>
                  <a:gd name="csX3" fmla="*/ 1818646 w 1818646"/>
                  <a:gd name="csY3" fmla="*/ 181865 h 4826681"/>
                  <a:gd name="csX4" fmla="*/ 1818646 w 1818646"/>
                  <a:gd name="csY4" fmla="*/ 4644816 h 4826681"/>
                  <a:gd name="csX5" fmla="*/ 1636781 w 1818646"/>
                  <a:gd name="csY5" fmla="*/ 4826681 h 4826681"/>
                  <a:gd name="csX6" fmla="*/ 181865 w 1818646"/>
                  <a:gd name="csY6" fmla="*/ 4826681 h 4826681"/>
                  <a:gd name="csX7" fmla="*/ 0 w 1818646"/>
                  <a:gd name="csY7" fmla="*/ 4644816 h 4826681"/>
                  <a:gd name="csX8" fmla="*/ 0 w 1818646"/>
                  <a:gd name="csY8" fmla="*/ 181865 h 48266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18646" h="4826681">
                    <a:moveTo>
                      <a:pt x="0" y="181865"/>
                    </a:moveTo>
                    <a:cubicBezTo>
                      <a:pt x="0" y="81424"/>
                      <a:pt x="81424" y="0"/>
                      <a:pt x="181865" y="0"/>
                    </a:cubicBezTo>
                    <a:lnTo>
                      <a:pt x="1636781" y="0"/>
                    </a:lnTo>
                    <a:cubicBezTo>
                      <a:pt x="1737222" y="0"/>
                      <a:pt x="1818646" y="81424"/>
                      <a:pt x="1818646" y="181865"/>
                    </a:cubicBezTo>
                    <a:lnTo>
                      <a:pt x="1818646" y="4644816"/>
                    </a:lnTo>
                    <a:cubicBezTo>
                      <a:pt x="1818646" y="4745257"/>
                      <a:pt x="1737222" y="4826681"/>
                      <a:pt x="1636781" y="4826681"/>
                    </a:cubicBezTo>
                    <a:lnTo>
                      <a:pt x="181865" y="4826681"/>
                    </a:lnTo>
                    <a:cubicBezTo>
                      <a:pt x="81424" y="4826681"/>
                      <a:pt x="0" y="4745257"/>
                      <a:pt x="0" y="4644816"/>
                    </a:cubicBezTo>
                    <a:lnTo>
                      <a:pt x="0" y="181865"/>
                    </a:lnTo>
                    <a:close/>
                  </a:path>
                </a:pathLst>
              </a:custGeom>
              <a:noFill/>
              <a:ln w="952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06606" tIns="106606" rIns="106606" bIns="106606" numCol="1" spcCol="1270" anchor="t" anchorCtr="0">
                <a:noAutofit/>
              </a:bodyPr>
              <a:lstStyle/>
              <a:p>
                <a:pPr marL="0" lvl="0" indent="0" algn="ctr" defTabSz="622300"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b="1" kern="1200" dirty="0">
                    <a:solidFill>
                      <a:schemeClr val="tx1"/>
                    </a:solidFill>
                    <a:latin typeface="+mj-lt"/>
                  </a:rPr>
                  <a:t>3 </a:t>
                </a:r>
                <a:br>
                  <a:rPr lang="en-US" sz="1600" b="1" kern="1200" dirty="0">
                    <a:solidFill>
                      <a:schemeClr val="tx1"/>
                    </a:solidFill>
                    <a:latin typeface="+mj-lt"/>
                  </a:rPr>
                </a:br>
                <a:r>
                  <a:rPr lang="en-US" sz="1600" b="1" kern="1200" dirty="0">
                    <a:solidFill>
                      <a:schemeClr val="tx1"/>
                    </a:solidFill>
                    <a:latin typeface="+mj-lt"/>
                  </a:rPr>
                  <a:t>DATABASE LAYER</a:t>
                </a:r>
                <a:br>
                  <a:rPr lang="en-US" sz="1600" b="1" kern="1200" dirty="0">
                    <a:solidFill>
                      <a:schemeClr val="tx1"/>
                    </a:solidFill>
                    <a:latin typeface="+mj-lt"/>
                  </a:rPr>
                </a:br>
                <a:r>
                  <a:rPr lang="en-US" sz="1600" b="1" kern="1200" dirty="0">
                    <a:solidFill>
                      <a:schemeClr val="tx1"/>
                    </a:solidFill>
                    <a:latin typeface="+mj-lt"/>
                  </a:rPr>
                  <a:t>(MY SQL)</a:t>
                </a:r>
              </a:p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900" b="1" kern="1200" dirty="0">
                  <a:solidFill>
                    <a:schemeClr val="tx1"/>
                  </a:solidFill>
                </a:endParaRPr>
              </a:p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900" b="1" kern="1200" dirty="0">
                  <a:solidFill>
                    <a:schemeClr val="tx1"/>
                  </a:solidFill>
                </a:endParaRPr>
              </a:p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900" kern="1200" dirty="0">
                  <a:solidFill>
                    <a:schemeClr val="tx1"/>
                  </a:solidFill>
                </a:endParaRPr>
              </a:p>
              <a:p>
                <a:pPr marL="0" lvl="0" indent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kern="1200" dirty="0">
                  <a:solidFill>
                    <a:schemeClr val="tx1"/>
                  </a:solidFill>
                </a:endParaRPr>
              </a:p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1" kern="1200" dirty="0">
                  <a:solidFill>
                    <a:schemeClr val="tx1"/>
                  </a:solidFill>
                  <a:latin typeface="+mj-lt"/>
                </a:endParaRPr>
              </a:p>
              <a:p>
                <a:pPr marL="0" lvl="0" indent="0" algn="l" defTabSz="622300"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b="1" kern="1200" dirty="0">
                    <a:solidFill>
                      <a:schemeClr val="tx1"/>
                    </a:solidFill>
                    <a:latin typeface="+mj-lt"/>
                  </a:rPr>
                  <a:t>MySQL Database</a:t>
                </a:r>
                <a:b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</a:br>
                <a:r>
                  <a:rPr lang="en-US" sz="1200" b="1" kern="1200" dirty="0" err="1">
                    <a:solidFill>
                      <a:schemeClr val="tx1"/>
                    </a:solidFill>
                    <a:latin typeface="+mj-lt"/>
                  </a:rPr>
                  <a:t>sustainabledevelopmentdb</a:t>
                </a:r>
                <a:r>
                  <a:rPr lang="en-US" sz="1200" b="1" kern="1200" dirty="0">
                    <a:solidFill>
                      <a:schemeClr val="tx1"/>
                    </a:solidFill>
                    <a:latin typeface="+mj-lt"/>
                  </a:rPr>
                  <a:t>
TABLE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  <a:t>: master_clean_2
</a:t>
                </a:r>
                <a:r>
                  <a:rPr lang="en-US" sz="1200" b="1" kern="1200" dirty="0">
                    <a:solidFill>
                      <a:schemeClr val="tx1"/>
                    </a:solidFill>
                    <a:latin typeface="+mj-lt"/>
                  </a:rPr>
                  <a:t>VIEWS (3):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  <a:t>
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j-lt"/>
                        <a:sym typeface="Wingdings" panose="05000000000000000000" pitchFamily="2" charset="2"/>
                      </a:rPr>
                      <m:t>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latin typeface="+mj-lt"/>
                  </a:rPr>
                  <a:t>vw_sustainability_base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  <a:t>
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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latin typeface="+mj-lt"/>
                  </a:rPr>
                  <a:t>vw_sustainability_metrics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  <a:t>
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</a:t>
                </a:r>
                <a:r>
                  <a:rPr lang="en-US" sz="1200" kern="12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latin typeface="+mj-lt"/>
                  </a:rPr>
                  <a:t>vw_dashboard</a:t>
                </a:r>
                <a:endParaRPr lang="en-US" sz="1200" kern="1200" dirty="0">
                  <a:solidFill>
                    <a:schemeClr val="tx1"/>
                  </a:solidFill>
                  <a:latin typeface="+mj-lt"/>
                </a:endParaRPr>
              </a:p>
              <a:p>
                <a:endParaRPr lang="en-US" sz="1200" b="1" dirty="0">
                  <a:solidFill>
                    <a:schemeClr val="tx1"/>
                  </a:solidFill>
                  <a:latin typeface="+mj-lt"/>
                </a:endParaRPr>
              </a:p>
              <a:p>
                <a:endParaRPr lang="en-US" sz="1200" b="1" dirty="0">
                  <a:solidFill>
                    <a:schemeClr val="tx1"/>
                  </a:solidFill>
                  <a:latin typeface="+mj-lt"/>
                </a:endParaRPr>
              </a:p>
              <a:p>
                <a:endParaRPr lang="en-US" sz="1200" b="1" dirty="0">
                  <a:solidFill>
                    <a:schemeClr val="tx1"/>
                  </a:solidFill>
                  <a:latin typeface="+mj-lt"/>
                </a:endParaRPr>
              </a:p>
              <a:p>
                <a:r>
                  <a:rPr lang="en-US" sz="1100" b="1" dirty="0">
                    <a:solidFill>
                      <a:schemeClr val="tx1"/>
                    </a:solidFill>
                    <a:latin typeface="+mj-lt"/>
                  </a:rPr>
                  <a:t>Cleaned data loaded into</a:t>
                </a:r>
              </a:p>
              <a:p>
                <a:r>
                  <a:rPr lang="en-US" sz="1100" b="1" dirty="0">
                    <a:solidFill>
                      <a:schemeClr val="tx1"/>
                    </a:solidFill>
                    <a:latin typeface="+mj-lt"/>
                  </a:rPr>
                  <a:t>MySQL. Table and views</a:t>
                </a:r>
              </a:p>
              <a:p>
                <a:r>
                  <a:rPr lang="en-US" sz="1100" b="1" dirty="0">
                    <a:solidFill>
                      <a:schemeClr val="tx1"/>
                    </a:solidFill>
                    <a:latin typeface="+mj-lt"/>
                  </a:rPr>
                  <a:t>created for structured storage and analytical use.</a:t>
                </a:r>
              </a:p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kern="1200" dirty="0">
                  <a:solidFill>
                    <a:schemeClr val="tx1"/>
                  </a:solidFill>
                  <a:latin typeface="+mj-lt"/>
                </a:endParaRPr>
              </a:p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1" kern="12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FBA5AAD-C108-A45E-C05B-54AAFE76C9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86" y="1146763"/>
                <a:ext cx="2052000" cy="4896000"/>
              </a:xfrm>
              <a:custGeom>
                <a:avLst/>
                <a:gdLst>
                  <a:gd name="csX0" fmla="*/ 0 w 1818646"/>
                  <a:gd name="csY0" fmla="*/ 181865 h 4826681"/>
                  <a:gd name="csX1" fmla="*/ 181865 w 1818646"/>
                  <a:gd name="csY1" fmla="*/ 0 h 4826681"/>
                  <a:gd name="csX2" fmla="*/ 1636781 w 1818646"/>
                  <a:gd name="csY2" fmla="*/ 0 h 4826681"/>
                  <a:gd name="csX3" fmla="*/ 1818646 w 1818646"/>
                  <a:gd name="csY3" fmla="*/ 181865 h 4826681"/>
                  <a:gd name="csX4" fmla="*/ 1818646 w 1818646"/>
                  <a:gd name="csY4" fmla="*/ 4644816 h 4826681"/>
                  <a:gd name="csX5" fmla="*/ 1636781 w 1818646"/>
                  <a:gd name="csY5" fmla="*/ 4826681 h 4826681"/>
                  <a:gd name="csX6" fmla="*/ 181865 w 1818646"/>
                  <a:gd name="csY6" fmla="*/ 4826681 h 4826681"/>
                  <a:gd name="csX7" fmla="*/ 0 w 1818646"/>
                  <a:gd name="csY7" fmla="*/ 4644816 h 4826681"/>
                  <a:gd name="csX8" fmla="*/ 0 w 1818646"/>
                  <a:gd name="csY8" fmla="*/ 181865 h 48266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18646" h="4826681">
                    <a:moveTo>
                      <a:pt x="0" y="181865"/>
                    </a:moveTo>
                    <a:cubicBezTo>
                      <a:pt x="0" y="81424"/>
                      <a:pt x="81424" y="0"/>
                      <a:pt x="181865" y="0"/>
                    </a:cubicBezTo>
                    <a:lnTo>
                      <a:pt x="1636781" y="0"/>
                    </a:lnTo>
                    <a:cubicBezTo>
                      <a:pt x="1737222" y="0"/>
                      <a:pt x="1818646" y="81424"/>
                      <a:pt x="1818646" y="181865"/>
                    </a:cubicBezTo>
                    <a:lnTo>
                      <a:pt x="1818646" y="4644816"/>
                    </a:lnTo>
                    <a:cubicBezTo>
                      <a:pt x="1818646" y="4745257"/>
                      <a:pt x="1737222" y="4826681"/>
                      <a:pt x="1636781" y="4826681"/>
                    </a:cubicBezTo>
                    <a:lnTo>
                      <a:pt x="181865" y="4826681"/>
                    </a:lnTo>
                    <a:cubicBezTo>
                      <a:pt x="81424" y="4826681"/>
                      <a:pt x="0" y="4745257"/>
                      <a:pt x="0" y="4644816"/>
                    </a:cubicBezTo>
                    <a:lnTo>
                      <a:pt x="0" y="181865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304ED698-D06E-8453-2A17-2292748C1F58}"/>
              </a:ext>
            </a:extLst>
          </p:cNvPr>
          <p:cNvSpPr/>
          <p:nvPr/>
        </p:nvSpPr>
        <p:spPr>
          <a:xfrm>
            <a:off x="5571035" y="3678297"/>
            <a:ext cx="360000" cy="360000"/>
          </a:xfrm>
          <a:custGeom>
            <a:avLst/>
            <a:gdLst>
              <a:gd name="csX0" fmla="*/ 0 w 125967"/>
              <a:gd name="csY0" fmla="*/ 67203 h 336013"/>
              <a:gd name="csX1" fmla="*/ 62984 w 125967"/>
              <a:gd name="csY1" fmla="*/ 67203 h 336013"/>
              <a:gd name="csX2" fmla="*/ 62984 w 125967"/>
              <a:gd name="csY2" fmla="*/ 0 h 336013"/>
              <a:gd name="csX3" fmla="*/ 125967 w 125967"/>
              <a:gd name="csY3" fmla="*/ 168007 h 336013"/>
              <a:gd name="csX4" fmla="*/ 62984 w 125967"/>
              <a:gd name="csY4" fmla="*/ 336013 h 336013"/>
              <a:gd name="csX5" fmla="*/ 62984 w 125967"/>
              <a:gd name="csY5" fmla="*/ 268810 h 336013"/>
              <a:gd name="csX6" fmla="*/ 0 w 125967"/>
              <a:gd name="csY6" fmla="*/ 268810 h 336013"/>
              <a:gd name="csX7" fmla="*/ 0 w 125967"/>
              <a:gd name="csY7" fmla="*/ 67203 h 336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5967" h="336013">
                <a:moveTo>
                  <a:pt x="0" y="67203"/>
                </a:moveTo>
                <a:lnTo>
                  <a:pt x="62984" y="67203"/>
                </a:lnTo>
                <a:lnTo>
                  <a:pt x="62984" y="0"/>
                </a:lnTo>
                <a:lnTo>
                  <a:pt x="125967" y="168007"/>
                </a:lnTo>
                <a:lnTo>
                  <a:pt x="62984" y="336013"/>
                </a:lnTo>
                <a:lnTo>
                  <a:pt x="62984" y="268810"/>
                </a:lnTo>
                <a:lnTo>
                  <a:pt x="0" y="268810"/>
                </a:lnTo>
                <a:lnTo>
                  <a:pt x="0" y="6720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7203" rIns="37790" bIns="67203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958D4DE-421F-FD0B-250E-D28AFA0BD8AD}"/>
              </a:ext>
            </a:extLst>
          </p:cNvPr>
          <p:cNvSpPr/>
          <p:nvPr/>
        </p:nvSpPr>
        <p:spPr>
          <a:xfrm>
            <a:off x="5851635" y="1146763"/>
            <a:ext cx="2340000" cy="4896000"/>
          </a:xfrm>
          <a:custGeom>
            <a:avLst/>
            <a:gdLst>
              <a:gd name="csX0" fmla="*/ 0 w 1641046"/>
              <a:gd name="csY0" fmla="*/ 164105 h 4826681"/>
              <a:gd name="csX1" fmla="*/ 164105 w 1641046"/>
              <a:gd name="csY1" fmla="*/ 0 h 4826681"/>
              <a:gd name="csX2" fmla="*/ 1476941 w 1641046"/>
              <a:gd name="csY2" fmla="*/ 0 h 4826681"/>
              <a:gd name="csX3" fmla="*/ 1641046 w 1641046"/>
              <a:gd name="csY3" fmla="*/ 164105 h 4826681"/>
              <a:gd name="csX4" fmla="*/ 1641046 w 1641046"/>
              <a:gd name="csY4" fmla="*/ 4662576 h 4826681"/>
              <a:gd name="csX5" fmla="*/ 1476941 w 1641046"/>
              <a:gd name="csY5" fmla="*/ 4826681 h 4826681"/>
              <a:gd name="csX6" fmla="*/ 164105 w 1641046"/>
              <a:gd name="csY6" fmla="*/ 4826681 h 4826681"/>
              <a:gd name="csX7" fmla="*/ 0 w 1641046"/>
              <a:gd name="csY7" fmla="*/ 4662576 h 4826681"/>
              <a:gd name="csX8" fmla="*/ 0 w 1641046"/>
              <a:gd name="csY8" fmla="*/ 164105 h 4826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41046" h="4826681">
                <a:moveTo>
                  <a:pt x="0" y="164105"/>
                </a:moveTo>
                <a:cubicBezTo>
                  <a:pt x="0" y="73472"/>
                  <a:pt x="73472" y="0"/>
                  <a:pt x="164105" y="0"/>
                </a:cubicBezTo>
                <a:lnTo>
                  <a:pt x="1476941" y="0"/>
                </a:lnTo>
                <a:cubicBezTo>
                  <a:pt x="1567574" y="0"/>
                  <a:pt x="1641046" y="73472"/>
                  <a:pt x="1641046" y="164105"/>
                </a:cubicBezTo>
                <a:lnTo>
                  <a:pt x="1641046" y="4662576"/>
                </a:lnTo>
                <a:cubicBezTo>
                  <a:pt x="1641046" y="4753209"/>
                  <a:pt x="1567574" y="4826681"/>
                  <a:pt x="1476941" y="4826681"/>
                </a:cubicBezTo>
                <a:lnTo>
                  <a:pt x="164105" y="4826681"/>
                </a:lnTo>
                <a:cubicBezTo>
                  <a:pt x="73472" y="4826681"/>
                  <a:pt x="0" y="4753209"/>
                  <a:pt x="0" y="4662576"/>
                </a:cubicBezTo>
                <a:lnTo>
                  <a:pt x="0" y="164105"/>
                </a:lnTo>
                <a:close/>
              </a:path>
            </a:pathLst>
          </a:custGeom>
          <a:noFill/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5215" tIns="105215" rIns="105215" bIns="105215" numCol="1" spcCol="1270" anchor="t" anchorCtr="0">
            <a:noAutofit/>
          </a:bodyPr>
          <a:lstStyle/>
          <a:p>
            <a:pPr marL="0" lvl="0" indent="0" algn="ctr" defTabSz="66675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4 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</a:rPr>
            </a:b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FEATURE ENGINERING  &amp; SEMANTIC MODEL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kern="1200" dirty="0">
              <a:solidFill>
                <a:schemeClr val="tx1"/>
              </a:solidFill>
            </a:endParaRPr>
          </a:p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 dirty="0">
                <a:solidFill>
                  <a:schemeClr val="tx1"/>
                </a:solidFill>
                <a:latin typeface="+mj-lt"/>
              </a:rPr>
              <a:t>SQL Views &amp; Calculations </a:t>
            </a:r>
          </a:p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tx1"/>
                </a:solidFill>
                <a:latin typeface="+mj-lt"/>
              </a:rPr>
              <a:t>SQL-based metric engineering
Derived KPI calculations
Aggregations and transformations
Views optimized for reporting</a:t>
            </a:r>
          </a:p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br>
              <a:rPr lang="en-US" sz="1200" b="1" kern="1200" dirty="0">
                <a:solidFill>
                  <a:schemeClr val="tx1"/>
                </a:solidFill>
                <a:latin typeface="+mj-lt"/>
              </a:rPr>
            </a:br>
            <a:r>
              <a:rPr lang="en-US" sz="1200" b="1" kern="1200" dirty="0">
                <a:solidFill>
                  <a:schemeClr val="tx1"/>
                </a:solidFill>
                <a:latin typeface="+mj-lt"/>
              </a:rPr>
              <a:t>Power Bi Semantic Model </a:t>
            </a:r>
            <a:r>
              <a:rPr lang="en-US" sz="1200" kern="1200" dirty="0">
                <a:solidFill>
                  <a:schemeClr val="tx1"/>
                </a:solidFill>
                <a:latin typeface="+mj-lt"/>
              </a:rPr>
              <a:t>
Data Model
(Prepared for BI)
Relationships
Measures &amp; KPIs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  <a:latin typeface="+mj-lt"/>
              </a:rPr>
              <a:t>SQL calculations and semantic model built to prepare data for reporting and analysis.</a:t>
            </a:r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448686EC-9913-5B06-59E7-3BCDB338BFF0}"/>
              </a:ext>
            </a:extLst>
          </p:cNvPr>
          <p:cNvSpPr/>
          <p:nvPr/>
        </p:nvSpPr>
        <p:spPr>
          <a:xfrm>
            <a:off x="8013239" y="3678297"/>
            <a:ext cx="360000" cy="360000"/>
          </a:xfrm>
          <a:custGeom>
            <a:avLst/>
            <a:gdLst>
              <a:gd name="csX0" fmla="*/ 0 w 125967"/>
              <a:gd name="csY0" fmla="*/ 67203 h 336013"/>
              <a:gd name="csX1" fmla="*/ 62984 w 125967"/>
              <a:gd name="csY1" fmla="*/ 67203 h 336013"/>
              <a:gd name="csX2" fmla="*/ 62984 w 125967"/>
              <a:gd name="csY2" fmla="*/ 0 h 336013"/>
              <a:gd name="csX3" fmla="*/ 125967 w 125967"/>
              <a:gd name="csY3" fmla="*/ 168007 h 336013"/>
              <a:gd name="csX4" fmla="*/ 62984 w 125967"/>
              <a:gd name="csY4" fmla="*/ 336013 h 336013"/>
              <a:gd name="csX5" fmla="*/ 62984 w 125967"/>
              <a:gd name="csY5" fmla="*/ 268810 h 336013"/>
              <a:gd name="csX6" fmla="*/ 0 w 125967"/>
              <a:gd name="csY6" fmla="*/ 268810 h 336013"/>
              <a:gd name="csX7" fmla="*/ 0 w 125967"/>
              <a:gd name="csY7" fmla="*/ 67203 h 336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5967" h="336013">
                <a:moveTo>
                  <a:pt x="0" y="67203"/>
                </a:moveTo>
                <a:lnTo>
                  <a:pt x="62984" y="67203"/>
                </a:lnTo>
                <a:lnTo>
                  <a:pt x="62984" y="0"/>
                </a:lnTo>
                <a:lnTo>
                  <a:pt x="125967" y="168007"/>
                </a:lnTo>
                <a:lnTo>
                  <a:pt x="62984" y="336013"/>
                </a:lnTo>
                <a:lnTo>
                  <a:pt x="62984" y="268810"/>
                </a:lnTo>
                <a:lnTo>
                  <a:pt x="0" y="268810"/>
                </a:lnTo>
                <a:lnTo>
                  <a:pt x="0" y="6720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7203" rIns="37790" bIns="67203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CE0C7E20-619E-8F6D-DB67-65E42F9D6EA5}"/>
              </a:ext>
            </a:extLst>
          </p:cNvPr>
          <p:cNvSpPr/>
          <p:nvPr/>
        </p:nvSpPr>
        <p:spPr>
          <a:xfrm>
            <a:off x="8271484" y="1146763"/>
            <a:ext cx="1987656" cy="4896000"/>
          </a:xfrm>
          <a:custGeom>
            <a:avLst/>
            <a:gdLst>
              <a:gd name="csX0" fmla="*/ 0 w 1354893"/>
              <a:gd name="csY0" fmla="*/ 135489 h 4826681"/>
              <a:gd name="csX1" fmla="*/ 135489 w 1354893"/>
              <a:gd name="csY1" fmla="*/ 0 h 4826681"/>
              <a:gd name="csX2" fmla="*/ 1219404 w 1354893"/>
              <a:gd name="csY2" fmla="*/ 0 h 4826681"/>
              <a:gd name="csX3" fmla="*/ 1354893 w 1354893"/>
              <a:gd name="csY3" fmla="*/ 135489 h 4826681"/>
              <a:gd name="csX4" fmla="*/ 1354893 w 1354893"/>
              <a:gd name="csY4" fmla="*/ 4691192 h 4826681"/>
              <a:gd name="csX5" fmla="*/ 1219404 w 1354893"/>
              <a:gd name="csY5" fmla="*/ 4826681 h 4826681"/>
              <a:gd name="csX6" fmla="*/ 135489 w 1354893"/>
              <a:gd name="csY6" fmla="*/ 4826681 h 4826681"/>
              <a:gd name="csX7" fmla="*/ 0 w 1354893"/>
              <a:gd name="csY7" fmla="*/ 4691192 h 4826681"/>
              <a:gd name="csX8" fmla="*/ 0 w 1354893"/>
              <a:gd name="csY8" fmla="*/ 135489 h 4826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4893" h="4826681">
                <a:moveTo>
                  <a:pt x="0" y="135489"/>
                </a:moveTo>
                <a:cubicBezTo>
                  <a:pt x="0" y="60660"/>
                  <a:pt x="60660" y="0"/>
                  <a:pt x="135489" y="0"/>
                </a:cubicBezTo>
                <a:lnTo>
                  <a:pt x="1219404" y="0"/>
                </a:lnTo>
                <a:cubicBezTo>
                  <a:pt x="1294233" y="0"/>
                  <a:pt x="1354893" y="60660"/>
                  <a:pt x="1354893" y="135489"/>
                </a:cubicBezTo>
                <a:lnTo>
                  <a:pt x="1354893" y="4691192"/>
                </a:lnTo>
                <a:cubicBezTo>
                  <a:pt x="1354893" y="4766021"/>
                  <a:pt x="1294233" y="4826681"/>
                  <a:pt x="1219404" y="4826681"/>
                </a:cubicBezTo>
                <a:lnTo>
                  <a:pt x="135489" y="4826681"/>
                </a:lnTo>
                <a:cubicBezTo>
                  <a:pt x="60660" y="4826681"/>
                  <a:pt x="0" y="4766021"/>
                  <a:pt x="0" y="4691192"/>
                </a:cubicBezTo>
                <a:lnTo>
                  <a:pt x="0" y="135489"/>
                </a:lnTo>
                <a:close/>
              </a:path>
            </a:pathLst>
          </a:custGeom>
          <a:noFill/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4453" tIns="104453" rIns="104453" bIns="104453" numCol="1" spcCol="1270" anchor="t" anchorCtr="0">
            <a:noAutofit/>
          </a:bodyPr>
          <a:lstStyle/>
          <a:p>
            <a:pPr marL="0" lvl="0" indent="0" algn="ctr" defTabSz="75565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5 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</a:rPr>
            </a:b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REPORTING &amp; ANALYTICS LAYER</a:t>
            </a:r>
          </a:p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b="1" dirty="0">
              <a:solidFill>
                <a:schemeClr val="tx1"/>
              </a:solidFill>
              <a:latin typeface="+mj-lt"/>
            </a:endParaRPr>
          </a:p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b="1" kern="1200" dirty="0">
              <a:solidFill>
                <a:schemeClr val="tx1"/>
              </a:solidFill>
              <a:latin typeface="+mj-lt"/>
            </a:endParaRPr>
          </a:p>
          <a:p>
            <a:pPr defTabSz="7556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defTabSz="7556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>
                <a:solidFill>
                  <a:schemeClr val="tx1"/>
                </a:solidFill>
                <a:latin typeface="+mj-lt"/>
              </a:rPr>
              <a:t>Power BI Data Model. Relationships. DAX Measures. Calculated Columns. KPIs &amp; Metrics Dynamic Titles</a:t>
            </a: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100" b="1" dirty="0">
              <a:solidFill>
                <a:schemeClr val="tx1"/>
              </a:solidFill>
              <a:latin typeface="+mj-lt"/>
            </a:endParaRPr>
          </a:p>
          <a:p>
            <a:pPr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  <a:latin typeface="+mj-lt"/>
              </a:rPr>
              <a:t>Data model enriched with measures and business logic for dynamic reporting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CA531C27-E10C-E597-BFAB-ACD04EE401F4}"/>
              </a:ext>
            </a:extLst>
          </p:cNvPr>
          <p:cNvSpPr/>
          <p:nvPr/>
        </p:nvSpPr>
        <p:spPr>
          <a:xfrm>
            <a:off x="10123836" y="3678297"/>
            <a:ext cx="360000" cy="360000"/>
          </a:xfrm>
          <a:custGeom>
            <a:avLst/>
            <a:gdLst>
              <a:gd name="csX0" fmla="*/ 0 w 287237"/>
              <a:gd name="csY0" fmla="*/ 67203 h 336013"/>
              <a:gd name="csX1" fmla="*/ 143619 w 287237"/>
              <a:gd name="csY1" fmla="*/ 67203 h 336013"/>
              <a:gd name="csX2" fmla="*/ 143619 w 287237"/>
              <a:gd name="csY2" fmla="*/ 0 h 336013"/>
              <a:gd name="csX3" fmla="*/ 287237 w 287237"/>
              <a:gd name="csY3" fmla="*/ 168007 h 336013"/>
              <a:gd name="csX4" fmla="*/ 143619 w 287237"/>
              <a:gd name="csY4" fmla="*/ 336013 h 336013"/>
              <a:gd name="csX5" fmla="*/ 143619 w 287237"/>
              <a:gd name="csY5" fmla="*/ 268810 h 336013"/>
              <a:gd name="csX6" fmla="*/ 0 w 287237"/>
              <a:gd name="csY6" fmla="*/ 268810 h 336013"/>
              <a:gd name="csX7" fmla="*/ 0 w 287237"/>
              <a:gd name="csY7" fmla="*/ 67203 h 336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7237" h="336013">
                <a:moveTo>
                  <a:pt x="0" y="67203"/>
                </a:moveTo>
                <a:lnTo>
                  <a:pt x="143619" y="67203"/>
                </a:lnTo>
                <a:lnTo>
                  <a:pt x="143619" y="0"/>
                </a:lnTo>
                <a:lnTo>
                  <a:pt x="287237" y="168007"/>
                </a:lnTo>
                <a:lnTo>
                  <a:pt x="143619" y="336013"/>
                </a:lnTo>
                <a:lnTo>
                  <a:pt x="143619" y="268810"/>
                </a:lnTo>
                <a:lnTo>
                  <a:pt x="0" y="268810"/>
                </a:lnTo>
                <a:lnTo>
                  <a:pt x="0" y="6720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7203" rIns="86171" bIns="67203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6EB9FC3B-D056-13B7-10D7-7EEA15C82D28}"/>
              </a:ext>
            </a:extLst>
          </p:cNvPr>
          <p:cNvSpPr/>
          <p:nvPr/>
        </p:nvSpPr>
        <p:spPr>
          <a:xfrm>
            <a:off x="10338987" y="1146763"/>
            <a:ext cx="1678060" cy="4896000"/>
          </a:xfrm>
          <a:custGeom>
            <a:avLst/>
            <a:gdLst>
              <a:gd name="csX0" fmla="*/ 0 w 1354893"/>
              <a:gd name="csY0" fmla="*/ 135489 h 4826681"/>
              <a:gd name="csX1" fmla="*/ 135489 w 1354893"/>
              <a:gd name="csY1" fmla="*/ 0 h 4826681"/>
              <a:gd name="csX2" fmla="*/ 1219404 w 1354893"/>
              <a:gd name="csY2" fmla="*/ 0 h 4826681"/>
              <a:gd name="csX3" fmla="*/ 1354893 w 1354893"/>
              <a:gd name="csY3" fmla="*/ 135489 h 4826681"/>
              <a:gd name="csX4" fmla="*/ 1354893 w 1354893"/>
              <a:gd name="csY4" fmla="*/ 4691192 h 4826681"/>
              <a:gd name="csX5" fmla="*/ 1219404 w 1354893"/>
              <a:gd name="csY5" fmla="*/ 4826681 h 4826681"/>
              <a:gd name="csX6" fmla="*/ 135489 w 1354893"/>
              <a:gd name="csY6" fmla="*/ 4826681 h 4826681"/>
              <a:gd name="csX7" fmla="*/ 0 w 1354893"/>
              <a:gd name="csY7" fmla="*/ 4691192 h 4826681"/>
              <a:gd name="csX8" fmla="*/ 0 w 1354893"/>
              <a:gd name="csY8" fmla="*/ 135489 h 4826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4893" h="4826681">
                <a:moveTo>
                  <a:pt x="0" y="135489"/>
                </a:moveTo>
                <a:cubicBezTo>
                  <a:pt x="0" y="60660"/>
                  <a:pt x="60660" y="0"/>
                  <a:pt x="135489" y="0"/>
                </a:cubicBezTo>
                <a:lnTo>
                  <a:pt x="1219404" y="0"/>
                </a:lnTo>
                <a:cubicBezTo>
                  <a:pt x="1294233" y="0"/>
                  <a:pt x="1354893" y="60660"/>
                  <a:pt x="1354893" y="135489"/>
                </a:cubicBezTo>
                <a:lnTo>
                  <a:pt x="1354893" y="4691192"/>
                </a:lnTo>
                <a:cubicBezTo>
                  <a:pt x="1354893" y="4766021"/>
                  <a:pt x="1294233" y="4826681"/>
                  <a:pt x="1219404" y="4826681"/>
                </a:cubicBezTo>
                <a:lnTo>
                  <a:pt x="135489" y="4826681"/>
                </a:lnTo>
                <a:cubicBezTo>
                  <a:pt x="60660" y="4826681"/>
                  <a:pt x="0" y="4766021"/>
                  <a:pt x="0" y="4691192"/>
                </a:cubicBezTo>
                <a:lnTo>
                  <a:pt x="0" y="135489"/>
                </a:lnTo>
                <a:close/>
              </a:path>
            </a:pathLst>
          </a:custGeom>
          <a:noFill/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833" tIns="96833" rIns="96833" bIns="96833" numCol="1" spcCol="1270" anchor="t" anchorCtr="0">
            <a:noAutofit/>
          </a:bodyPr>
          <a:lstStyle/>
          <a:p>
            <a:pPr marL="0" lvl="0" indent="0" algn="ctr" defTabSz="66675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6</a:t>
            </a:r>
            <a:br>
              <a:rPr lang="en-US" sz="1600" b="1" kern="1200" dirty="0">
                <a:solidFill>
                  <a:schemeClr val="tx1"/>
                </a:solidFill>
                <a:latin typeface="+mj-lt"/>
              </a:rPr>
            </a:br>
            <a:r>
              <a:rPr lang="en-US" sz="1600" b="1" kern="1200" dirty="0">
                <a:solidFill>
                  <a:schemeClr val="tx1"/>
                </a:solidFill>
                <a:latin typeface="+mj-lt"/>
              </a:rPr>
              <a:t>DASHBOARD / OUTPUTS 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 dirty="0">
                <a:solidFill>
                  <a:schemeClr val="tx1"/>
                </a:solidFill>
                <a:latin typeface="+mj-lt"/>
              </a:rPr>
              <a:t>EXCEL Dashboard</a:t>
            </a: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kern="1200" dirty="0">
              <a:solidFill>
                <a:schemeClr val="tx1"/>
              </a:solidFill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kern="1200" dirty="0">
              <a:solidFill>
                <a:schemeClr val="tx1"/>
              </a:solidFill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200" b="1" kern="1200" dirty="0">
              <a:solidFill>
                <a:schemeClr val="tx1"/>
              </a:solidFill>
              <a:latin typeface="+mj-lt"/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 dirty="0">
                <a:solidFill>
                  <a:schemeClr val="tx1"/>
                </a:solidFill>
                <a:latin typeface="+mj-lt"/>
              </a:rPr>
              <a:t>POWER BI DASHBOARD</a:t>
            </a: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+mj-lt"/>
              </a:rPr>
              <a:t>Interactive dashboards built for exploration, insights and decision-making.</a:t>
            </a:r>
          </a:p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b="1" dirty="0">
              <a:solidFill>
                <a:schemeClr val="tx1"/>
              </a:solidFill>
            </a:endParaRPr>
          </a:p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500" kern="12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E72B2D8-BD63-A892-3C62-3AA750A09B6C}"/>
              </a:ext>
            </a:extLst>
          </p:cNvPr>
          <p:cNvGrpSpPr/>
          <p:nvPr/>
        </p:nvGrpSpPr>
        <p:grpSpPr>
          <a:xfrm>
            <a:off x="298542" y="2441748"/>
            <a:ext cx="1015095" cy="1965947"/>
            <a:chOff x="375136" y="3882662"/>
            <a:chExt cx="621245" cy="124228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125699-78E4-81D7-0C07-8D5CBD8F3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136" y="3882662"/>
              <a:ext cx="621245" cy="35098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799730E-DAF1-F3FF-6796-95FA4B0CB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433758" y="4349893"/>
              <a:ext cx="504000" cy="32281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5C0F348-0265-1CCD-B463-FEF9D33E6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758" y="4788948"/>
              <a:ext cx="504000" cy="336000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B587BB5C-4E63-FAB1-6BE4-BD4073436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336625" y="2224277"/>
            <a:ext cx="432000" cy="432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CBAA8CF-B72A-B2AC-6375-8BE98E0CE9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563534" y="2224277"/>
            <a:ext cx="432000" cy="4320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9340A47-0273-6112-6FE3-3F2162EB14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0962017" y="2224277"/>
            <a:ext cx="432000" cy="432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00AB298-BE39-DB6C-DE15-E7F9A27607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0962017" y="3265384"/>
            <a:ext cx="432000" cy="450451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50E1BDF-7518-B712-993E-BFC0C7161EFA}"/>
              </a:ext>
            </a:extLst>
          </p:cNvPr>
          <p:cNvSpPr txBox="1"/>
          <p:nvPr/>
        </p:nvSpPr>
        <p:spPr>
          <a:xfrm>
            <a:off x="296926" y="266086"/>
            <a:ext cx="66480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FLOW DIAGRAM</a:t>
            </a:r>
          </a:p>
          <a:p>
            <a:r>
              <a:rPr lang="en-US" sz="1600" b="1" dirty="0">
                <a:latin typeface="+mj-lt"/>
              </a:rPr>
              <a:t>End-to-End Data Pipeline from Source Systems to Interactive Dashboards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30700786-5BBC-B5B1-7505-2F10246A1C4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257" y="2224277"/>
            <a:ext cx="432000" cy="43200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7150A269-4537-39C5-30A0-BA053C7C6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9056622" y="2262746"/>
            <a:ext cx="432000" cy="35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0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233</Words>
  <Application>Microsoft Office PowerPoint</Application>
  <PresentationFormat>Widescreen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Gianni Poulis</dc:creator>
  <cp:lastModifiedBy>Gianni Poulis</cp:lastModifiedBy>
  <cp:revision>3</cp:revision>
  <dcterms:created xsi:type="dcterms:W3CDTF">2026-07-02T05:00:52Z</dcterms:created>
  <dcterms:modified xsi:type="dcterms:W3CDTF">2026-07-02T06:41:16Z</dcterms:modified>
</cp:coreProperties>
</file>